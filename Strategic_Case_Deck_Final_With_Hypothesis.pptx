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6" r:id="rId17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Strategic Transformation of Dubai’s Mid-Market Hospitality Sector (2026–2030)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Hybrid Consulting + Economic Advisory 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Occupancy stabilized (~70–75%) but margins under structural pressure.</a:t>
            </a:r>
          </a:p>
          <a:p>
            <a:pPr lvl="1"/>
            <a:r>
              <a:t>High OTA dependency (15–25% commission impact).</a:t>
            </a:r>
          </a:p>
          <a:p>
            <a:pPr lvl="1"/>
            <a:r>
              <a:t>Rising labor and utility cost intensity.</a:t>
            </a:r>
          </a:p>
          <a:p>
            <a:pPr lvl="1"/>
            <a:r>
              <a:t>Increasing regional competitive pressure (Saudi, Qatar).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Diagnosis – Structural Margin Compression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leakage via distribution inefficiencies.</a:t>
            </a:r>
          </a:p>
          <a:p>
            <a:pPr lvl="1"/>
            <a:r>
              <a:t>Limited ADR optimization sophistication.</a:t>
            </a:r>
          </a:p>
          <a:p>
            <a:pPr lvl="1"/>
            <a:r>
              <a:t>High fixed-cost operational structure.</a:t>
            </a:r>
          </a:p>
          <a:p>
            <a:pPr lvl="1"/>
            <a:r>
              <a:t>Weak direct booking ecosystem maturity.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Illustrative Financial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+2% ADR uplift → ~5–7% EBITDA improvement.</a:t>
            </a:r>
          </a:p>
          <a:p>
            <a:pPr lvl="1"/>
            <a:r>
              <a:t>5pp OTA share reduction → 3–4% revenue recovery.</a:t>
            </a:r>
          </a:p>
          <a:p>
            <a:pPr lvl="1"/>
            <a:r>
              <a:t>4% cost efficiency → margin stabilization.</a:t>
            </a:r>
          </a:p>
          <a:p>
            <a:pPr lvl="1"/>
            <a:r>
              <a:t>Combined strategy → 4–6pp EBITDA margin recovery.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Executive KPI Snapshot – Scenario Comparison</a:t>
            </a:r>
          </a:p>
        </p:txBody>
      </p:sp>
      <p:pic>
        <p:nvPicPr>
          <p:cNvPr id="4" name="Picture 3" descr="executive_kpi_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EBITDA Sensitivity Analysis</a:t>
            </a:r>
          </a:p>
        </p:txBody>
      </p:sp>
      <p:pic>
        <p:nvPicPr>
          <p:cNvPr id="4" name="Picture 3" descr="ebitda_sensitivity_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Regional Strategic Benchmarking</a:t>
            </a:r>
          </a:p>
        </p:txBody>
      </p:sp>
      <p:pic>
        <p:nvPicPr>
          <p:cNvPr id="4" name="Picture 3" descr="regional_benchmar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Transformation Pillars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Revenue Management Excellence</a:t>
            </a:r>
          </a:p>
          <a:p>
            <a:pPr lvl="1"/>
            <a:r>
              <a:t>2. Digital &amp; Direct Booking Ecosystem</a:t>
            </a:r>
          </a:p>
          <a:p>
            <a:pPr lvl="1"/>
            <a:r>
              <a:t>3. Experience-Led Differentiation</a:t>
            </a:r>
          </a:p>
          <a:p>
            <a:pPr lvl="1"/>
            <a:r>
              <a:t>4. Operational &amp; Asset Optimization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 (2026–2030)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Revenue optimization &amp; cost audit (0–12 months).</a:t>
            </a:r>
          </a:p>
          <a:p>
            <a:pPr lvl="1"/>
            <a:r>
              <a:t>Phase 2: Digital transformation &amp; loyalty expansion (1–3 years).</a:t>
            </a:r>
          </a:p>
          <a:p>
            <a:pPr lvl="1"/>
            <a:r>
              <a:t>Phase 3: Asset-light growth &amp; ecosystem integration (3–5 years).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Economic Alignment with Dubai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Supports non-oil GDP diversification.</a:t>
            </a:r>
          </a:p>
          <a:p>
            <a:pPr lvl="1"/>
            <a:r>
              <a:t>Enhances SME ecosystem resilience.</a:t>
            </a:r>
          </a:p>
          <a:p>
            <a:pPr lvl="1"/>
            <a:r>
              <a:t>Stabilizes tourism employment base.</a:t>
            </a:r>
          </a:p>
          <a:p>
            <a:pPr lvl="1"/>
            <a:r>
              <a:t>Strengthens regional competitive positioning.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Hypothesis &amp; Analytical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Hypothesis: Margin compression is driven primarily by distribution mix inefficiency and cost rigidity — not demand weakness.</a:t>
            </a:r>
          </a:p>
          <a:p>
            <a:pPr lvl="1"/>
            <a:r>
              <a:t>Test 1: Occupancy stability assessment (Demand resilience).</a:t>
            </a:r>
          </a:p>
          <a:p>
            <a:pPr lvl="1"/>
            <a:r>
              <a:t>Test 2: OTA commission impact quantification (Revenue leakage).</a:t>
            </a:r>
          </a:p>
          <a:p>
            <a:pPr lvl="1"/>
            <a:r>
              <a:t>Test 3: ADR sensitivity analysis (Pricing leverage).</a:t>
            </a:r>
          </a:p>
          <a:p>
            <a:pPr lvl="1"/>
            <a:r>
              <a:t>Test 4: Cost elasticity modeling (Margin resilience).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